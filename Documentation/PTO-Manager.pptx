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441"/>
    <a:srgbClr val="B496E0"/>
    <a:srgbClr val="197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8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7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7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1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6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6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9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4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8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45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13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C80DC8D-372C-FFDB-9BF9-D4B9A1F9A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834" y="1031001"/>
            <a:ext cx="6202414" cy="3030842"/>
          </a:xfrm>
        </p:spPr>
        <p:txBody>
          <a:bodyPr>
            <a:normAutofit fontScale="90000"/>
          </a:bodyPr>
          <a:lstStyle/>
          <a:p>
            <a:r>
              <a:rPr lang="hu-HU" noProof="1"/>
              <a:t>PTO Manager-</a:t>
            </a:r>
            <a:br>
              <a:rPr lang="hu-HU" noProof="1"/>
            </a:br>
            <a:r>
              <a:rPr lang="hu-HU" noProof="1"/>
              <a:t>Szabadság menedzser program</a:t>
            </a:r>
            <a:br>
              <a:rPr lang="hu-HU" noProof="1"/>
            </a:br>
            <a:endParaRPr lang="hu-HU" noProof="1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A832007-0049-32C6-0D91-6D5C1BEB2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834" y="2955440"/>
            <a:ext cx="6469248" cy="1287887"/>
          </a:xfrm>
        </p:spPr>
        <p:txBody>
          <a:bodyPr>
            <a:normAutofit/>
          </a:bodyPr>
          <a:lstStyle/>
          <a:p>
            <a:r>
              <a:rPr lang="hu-HU" noProof="1"/>
              <a:t>.Net Backend és React Frontend alapú feladatkezelő rendszer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zínes fények alkotta fényképeffektusok">
            <a:extLst>
              <a:ext uri="{FF2B5EF4-FFF2-40B4-BE49-F238E27FC236}">
                <a16:creationId xmlns:a16="http://schemas.microsoft.com/office/drawing/2014/main" id="{33278DBD-01B6-E5DD-0809-CBE5A568D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0" r="32985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Alcím 2">
            <a:extLst>
              <a:ext uri="{FF2B5EF4-FFF2-40B4-BE49-F238E27FC236}">
                <a16:creationId xmlns:a16="http://schemas.microsoft.com/office/drawing/2014/main" id="{97C65A5C-BFFE-A5F7-BB24-762F723C937D}"/>
              </a:ext>
            </a:extLst>
          </p:cNvPr>
          <p:cNvSpPr txBox="1">
            <a:spLocks/>
          </p:cNvSpPr>
          <p:nvPr/>
        </p:nvSpPr>
        <p:spPr>
          <a:xfrm>
            <a:off x="792480" y="4737279"/>
            <a:ext cx="4670660" cy="1287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noProof="1"/>
          </a:p>
        </p:txBody>
      </p:sp>
      <p:sp>
        <p:nvSpPr>
          <p:cNvPr id="6" name="Alcím 2">
            <a:extLst>
              <a:ext uri="{FF2B5EF4-FFF2-40B4-BE49-F238E27FC236}">
                <a16:creationId xmlns:a16="http://schemas.microsoft.com/office/drawing/2014/main" id="{90B67088-A9A8-AD0B-E661-E417E8AB6B5F}"/>
              </a:ext>
            </a:extLst>
          </p:cNvPr>
          <p:cNvSpPr txBox="1">
            <a:spLocks/>
          </p:cNvSpPr>
          <p:nvPr/>
        </p:nvSpPr>
        <p:spPr>
          <a:xfrm>
            <a:off x="266834" y="5153696"/>
            <a:ext cx="4464786" cy="12878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noProof="1"/>
              <a:t>Gáspár Csanád</a:t>
            </a:r>
            <a:br>
              <a:rPr lang="hu-HU" noProof="1"/>
            </a:br>
            <a:r>
              <a:rPr lang="hu-HU" noProof="1"/>
              <a:t>Mohammad Adrián</a:t>
            </a:r>
            <a:br>
              <a:rPr lang="hu-HU" noProof="1"/>
            </a:br>
            <a:r>
              <a:rPr lang="hu-HU" noProof="1"/>
              <a:t>Janovits Eszter</a:t>
            </a:r>
          </a:p>
          <a:p>
            <a:pPr algn="just"/>
            <a:r>
              <a:rPr lang="hu-HU" noProof="1"/>
              <a:t>2025</a:t>
            </a:r>
          </a:p>
        </p:txBody>
      </p:sp>
      <p:pic>
        <p:nvPicPr>
          <p:cNvPr id="8" name="Kép 7" descr="A képen Betűtípus, Grafika, képernyőkép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2B10FC8-6CDA-7A7E-916D-E6B396B33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934" y="714158"/>
            <a:ext cx="3664527" cy="366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7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28EDE-7D3E-FADB-4961-22AE4E06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zínes fények alkotta fényképeffektusok">
            <a:extLst>
              <a:ext uri="{FF2B5EF4-FFF2-40B4-BE49-F238E27FC236}">
                <a16:creationId xmlns:a16="http://schemas.microsoft.com/office/drawing/2014/main" id="{6E0E6D2E-4CA7-4CE8-8341-EF7E1619B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0" r="32985" b="-1"/>
          <a:stretch>
            <a:fillRect/>
          </a:stretch>
        </p:blipFill>
        <p:spPr>
          <a:xfrm>
            <a:off x="9619200" y="10"/>
            <a:ext cx="5676900" cy="6857990"/>
          </a:xfrm>
          <a:prstGeom prst="rect">
            <a:avLst/>
          </a:prstGeom>
        </p:spPr>
      </p:pic>
      <p:sp>
        <p:nvSpPr>
          <p:cNvPr id="5" name="Alcím 2">
            <a:extLst>
              <a:ext uri="{FF2B5EF4-FFF2-40B4-BE49-F238E27FC236}">
                <a16:creationId xmlns:a16="http://schemas.microsoft.com/office/drawing/2014/main" id="{B3576B75-8E7B-DBA0-3521-87174F3F55AC}"/>
              </a:ext>
            </a:extLst>
          </p:cNvPr>
          <p:cNvSpPr txBox="1">
            <a:spLocks/>
          </p:cNvSpPr>
          <p:nvPr/>
        </p:nvSpPr>
        <p:spPr>
          <a:xfrm>
            <a:off x="2094229" y="2908967"/>
            <a:ext cx="2137033" cy="5997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1200" noProof="0" dirty="0"/>
              <a:t>Microsoft Dynamics 365 HR</a:t>
            </a:r>
          </a:p>
        </p:txBody>
      </p:sp>
      <p:sp>
        <p:nvSpPr>
          <p:cNvPr id="13" name="Cím 12">
            <a:extLst>
              <a:ext uri="{FF2B5EF4-FFF2-40B4-BE49-F238E27FC236}">
                <a16:creationId xmlns:a16="http://schemas.microsoft.com/office/drawing/2014/main" id="{1A142826-D0CB-BB76-80B7-F9EFC063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1185614"/>
            <a:ext cx="10890929" cy="1097280"/>
          </a:xfrm>
        </p:spPr>
        <p:txBody>
          <a:bodyPr>
            <a:normAutofit/>
          </a:bodyPr>
          <a:lstStyle/>
          <a:p>
            <a:r>
              <a:rPr lang="hu-HU" noProof="0" dirty="0"/>
              <a:t>Versenytárs elemzés	</a:t>
            </a:r>
          </a:p>
        </p:txBody>
      </p:sp>
      <p:graphicFrame>
        <p:nvGraphicFramePr>
          <p:cNvPr id="15" name="Tartalom helye 14">
            <a:extLst>
              <a:ext uri="{FF2B5EF4-FFF2-40B4-BE49-F238E27FC236}">
                <a16:creationId xmlns:a16="http://schemas.microsoft.com/office/drawing/2014/main" id="{63986C37-C3BB-FECB-4EC3-4BE52E347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75038"/>
              </p:ext>
            </p:extLst>
          </p:nvPr>
        </p:nvGraphicFramePr>
        <p:xfrm>
          <a:off x="430213" y="3508693"/>
          <a:ext cx="9096470" cy="2700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9294">
                  <a:extLst>
                    <a:ext uri="{9D8B030D-6E8A-4147-A177-3AD203B41FA5}">
                      <a16:colId xmlns:a16="http://schemas.microsoft.com/office/drawing/2014/main" val="3218257853"/>
                    </a:ext>
                  </a:extLst>
                </a:gridCol>
                <a:gridCol w="1819294">
                  <a:extLst>
                    <a:ext uri="{9D8B030D-6E8A-4147-A177-3AD203B41FA5}">
                      <a16:colId xmlns:a16="http://schemas.microsoft.com/office/drawing/2014/main" val="1577234811"/>
                    </a:ext>
                  </a:extLst>
                </a:gridCol>
                <a:gridCol w="1819294">
                  <a:extLst>
                    <a:ext uri="{9D8B030D-6E8A-4147-A177-3AD203B41FA5}">
                      <a16:colId xmlns:a16="http://schemas.microsoft.com/office/drawing/2014/main" val="1403033559"/>
                    </a:ext>
                  </a:extLst>
                </a:gridCol>
                <a:gridCol w="1819294">
                  <a:extLst>
                    <a:ext uri="{9D8B030D-6E8A-4147-A177-3AD203B41FA5}">
                      <a16:colId xmlns:a16="http://schemas.microsoft.com/office/drawing/2014/main" val="1594617847"/>
                    </a:ext>
                  </a:extLst>
                </a:gridCol>
                <a:gridCol w="1819294">
                  <a:extLst>
                    <a:ext uri="{9D8B030D-6E8A-4147-A177-3AD203B41FA5}">
                      <a16:colId xmlns:a16="http://schemas.microsoft.com/office/drawing/2014/main" val="1963022987"/>
                    </a:ext>
                  </a:extLst>
                </a:gridCol>
              </a:tblGrid>
              <a:tr h="900112">
                <a:tc>
                  <a:txBody>
                    <a:bodyPr/>
                    <a:lstStyle/>
                    <a:p>
                      <a:r>
                        <a:rPr lang="hu-HU" noProof="0" dirty="0"/>
                        <a:t>Könnyű bevezetés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23906"/>
                  </a:ext>
                </a:extLst>
              </a:tr>
              <a:tr h="900112">
                <a:tc>
                  <a:txBody>
                    <a:bodyPr/>
                    <a:lstStyle/>
                    <a:p>
                      <a:r>
                        <a:rPr lang="hu-HU" noProof="0" dirty="0"/>
                        <a:t>Magyar nyelv támogatott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024925"/>
                  </a:ext>
                </a:extLst>
              </a:tr>
              <a:tr h="900112">
                <a:tc>
                  <a:txBody>
                    <a:bodyPr/>
                    <a:lstStyle/>
                    <a:p>
                      <a:r>
                        <a:rPr lang="hu-HU" noProof="0" dirty="0" err="1"/>
                        <a:t>Komlex</a:t>
                      </a:r>
                      <a:r>
                        <a:rPr lang="hu-HU" noProof="0" dirty="0"/>
                        <a:t> szabályrendszer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3026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6A25977-16F8-3474-E550-FDB09CB66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27" y="2275794"/>
            <a:ext cx="599726" cy="59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2093D04-5355-B2FB-CEC4-C408E79D0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33"/>
          <a:stretch>
            <a:fillRect/>
          </a:stretch>
        </p:blipFill>
        <p:spPr bwMode="auto">
          <a:xfrm>
            <a:off x="4666542" y="2161467"/>
            <a:ext cx="614680" cy="78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lcím 2">
            <a:extLst>
              <a:ext uri="{FF2B5EF4-FFF2-40B4-BE49-F238E27FC236}">
                <a16:creationId xmlns:a16="http://schemas.microsoft.com/office/drawing/2014/main" id="{9D98F25A-F5DA-C64E-FA6A-E1D8CA85F9AA}"/>
              </a:ext>
            </a:extLst>
          </p:cNvPr>
          <p:cNvSpPr txBox="1">
            <a:spLocks/>
          </p:cNvSpPr>
          <p:nvPr/>
        </p:nvSpPr>
        <p:spPr>
          <a:xfrm>
            <a:off x="3978059" y="2908967"/>
            <a:ext cx="2006600" cy="599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1200" noProof="0" dirty="0" err="1"/>
              <a:t>Vacation</a:t>
            </a:r>
            <a:r>
              <a:rPr lang="hu-HU" sz="1200" noProof="0" dirty="0"/>
              <a:t> </a:t>
            </a:r>
            <a:r>
              <a:rPr lang="hu-HU" sz="1200" noProof="0" dirty="0" err="1"/>
              <a:t>Planner</a:t>
            </a:r>
            <a:r>
              <a:rPr lang="hu-HU" sz="1200" noProof="0" dirty="0"/>
              <a:t>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F289DF2-50A6-624E-73F4-CAA90C38E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867"/>
          <a:stretch>
            <a:fillRect/>
          </a:stretch>
        </p:blipFill>
        <p:spPr bwMode="auto">
          <a:xfrm>
            <a:off x="6447743" y="2275794"/>
            <a:ext cx="61468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lcím 2">
            <a:extLst>
              <a:ext uri="{FF2B5EF4-FFF2-40B4-BE49-F238E27FC236}">
                <a16:creationId xmlns:a16="http://schemas.microsoft.com/office/drawing/2014/main" id="{BC7E774F-B10B-AFD5-450D-03402ED14379}"/>
              </a:ext>
            </a:extLst>
          </p:cNvPr>
          <p:cNvSpPr txBox="1">
            <a:spLocks/>
          </p:cNvSpPr>
          <p:nvPr/>
        </p:nvSpPr>
        <p:spPr>
          <a:xfrm>
            <a:off x="5984659" y="2733869"/>
            <a:ext cx="2006600" cy="599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u-HU" sz="1200" noProof="0" dirty="0" err="1"/>
              <a:t>Helpfordesk</a:t>
            </a:r>
            <a:endParaRPr lang="hu-HU" sz="1200" noProof="0" dirty="0"/>
          </a:p>
        </p:txBody>
      </p:sp>
      <p:sp>
        <p:nvSpPr>
          <p:cNvPr id="20" name="Alcím 2">
            <a:extLst>
              <a:ext uri="{FF2B5EF4-FFF2-40B4-BE49-F238E27FC236}">
                <a16:creationId xmlns:a16="http://schemas.microsoft.com/office/drawing/2014/main" id="{7DDFEE14-2254-F296-6F49-7D4DC7F8B350}"/>
              </a:ext>
            </a:extLst>
          </p:cNvPr>
          <p:cNvSpPr txBox="1">
            <a:spLocks/>
          </p:cNvSpPr>
          <p:nvPr/>
        </p:nvSpPr>
        <p:spPr>
          <a:xfrm>
            <a:off x="7795253" y="2706544"/>
            <a:ext cx="1731430" cy="599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u-HU" sz="1200" noProof="0" dirty="0" err="1"/>
              <a:t>PTO</a:t>
            </a:r>
            <a:r>
              <a:rPr lang="hu-HU" sz="1200" noProof="0" dirty="0"/>
              <a:t> Manager</a:t>
            </a:r>
          </a:p>
        </p:txBody>
      </p:sp>
      <p:pic>
        <p:nvPicPr>
          <p:cNvPr id="22" name="Kép 21" descr="A képen Betűtípus, Grafika, képernyőkép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B7A5D7B-D260-C564-D54A-D80286BEE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1" t="31097" r="56264" b="29293"/>
          <a:stretch>
            <a:fillRect/>
          </a:stretch>
        </p:blipFill>
        <p:spPr>
          <a:xfrm>
            <a:off x="8183451" y="2089133"/>
            <a:ext cx="955033" cy="1119697"/>
          </a:xfrm>
          <a:prstGeom prst="rect">
            <a:avLst/>
          </a:prstGeom>
        </p:spPr>
      </p:pic>
      <p:pic>
        <p:nvPicPr>
          <p:cNvPr id="25" name="Ábra 24" descr="Pipa egyszínű kitöltéssel">
            <a:extLst>
              <a:ext uri="{FF2B5EF4-FFF2-40B4-BE49-F238E27FC236}">
                <a16:creationId xmlns:a16="http://schemas.microsoft.com/office/drawing/2014/main" id="{6F312B73-A136-0C95-E3DD-08E233DA53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48" y="3487261"/>
            <a:ext cx="914400" cy="914400"/>
          </a:xfrm>
          <a:prstGeom prst="rect">
            <a:avLst/>
          </a:prstGeom>
        </p:spPr>
      </p:pic>
      <p:pic>
        <p:nvPicPr>
          <p:cNvPr id="27" name="Ábra 26" descr="Bezárás egyszínű kitöltéssel">
            <a:extLst>
              <a:ext uri="{FF2B5EF4-FFF2-40B4-BE49-F238E27FC236}">
                <a16:creationId xmlns:a16="http://schemas.microsoft.com/office/drawing/2014/main" id="{652FB941-965A-96B8-908E-9CFBF103A2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317" y="3496358"/>
            <a:ext cx="914400" cy="914400"/>
          </a:xfrm>
          <a:prstGeom prst="rect">
            <a:avLst/>
          </a:prstGeom>
        </p:spPr>
      </p:pic>
      <p:pic>
        <p:nvPicPr>
          <p:cNvPr id="28" name="Ábra 27" descr="Bezárás egyszínű kitöltéssel">
            <a:extLst>
              <a:ext uri="{FF2B5EF4-FFF2-40B4-BE49-F238E27FC236}">
                <a16:creationId xmlns:a16="http://schemas.microsoft.com/office/drawing/2014/main" id="{07A8D960-E5D3-E3AE-8D28-F44084843D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248" y="5294629"/>
            <a:ext cx="914400" cy="914400"/>
          </a:xfrm>
          <a:prstGeom prst="rect">
            <a:avLst/>
          </a:prstGeom>
        </p:spPr>
      </p:pic>
      <p:pic>
        <p:nvPicPr>
          <p:cNvPr id="29" name="Ábra 28" descr="Bezárás egyszínű kitöltéssel">
            <a:extLst>
              <a:ext uri="{FF2B5EF4-FFF2-40B4-BE49-F238E27FC236}">
                <a16:creationId xmlns:a16="http://schemas.microsoft.com/office/drawing/2014/main" id="{8343DA76-50CF-82C5-EB07-1AF84E2F52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1622" y="4399479"/>
            <a:ext cx="914400" cy="914400"/>
          </a:xfrm>
          <a:prstGeom prst="rect">
            <a:avLst/>
          </a:prstGeom>
        </p:spPr>
      </p:pic>
      <p:pic>
        <p:nvPicPr>
          <p:cNvPr id="30" name="Ábra 29" descr="Bezárás egyszínű kitöltéssel">
            <a:extLst>
              <a:ext uri="{FF2B5EF4-FFF2-40B4-BE49-F238E27FC236}">
                <a16:creationId xmlns:a16="http://schemas.microsoft.com/office/drawing/2014/main" id="{2110A0AB-95F8-E727-5DC0-AABE047080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1622" y="3503238"/>
            <a:ext cx="914400" cy="914400"/>
          </a:xfrm>
          <a:prstGeom prst="rect">
            <a:avLst/>
          </a:prstGeom>
        </p:spPr>
      </p:pic>
      <p:pic>
        <p:nvPicPr>
          <p:cNvPr id="31" name="Ábra 30" descr="Pipa egyszínű kitöltéssel">
            <a:extLst>
              <a:ext uri="{FF2B5EF4-FFF2-40B4-BE49-F238E27FC236}">
                <a16:creationId xmlns:a16="http://schemas.microsoft.com/office/drawing/2014/main" id="{EC6EFF74-B20A-3293-3DCE-8927C5E942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1622" y="5316061"/>
            <a:ext cx="914400" cy="914400"/>
          </a:xfrm>
          <a:prstGeom prst="rect">
            <a:avLst/>
          </a:prstGeom>
        </p:spPr>
      </p:pic>
      <p:pic>
        <p:nvPicPr>
          <p:cNvPr id="32" name="Ábra 31" descr="Pipa egyszínű kitöltéssel">
            <a:extLst>
              <a:ext uri="{FF2B5EF4-FFF2-40B4-BE49-F238E27FC236}">
                <a16:creationId xmlns:a16="http://schemas.microsoft.com/office/drawing/2014/main" id="{7259C0DA-34FC-E9D6-061E-ADA86504BD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48" y="4390945"/>
            <a:ext cx="914400" cy="914400"/>
          </a:xfrm>
          <a:prstGeom prst="rect">
            <a:avLst/>
          </a:prstGeom>
        </p:spPr>
      </p:pic>
      <p:pic>
        <p:nvPicPr>
          <p:cNvPr id="33" name="Ábra 32" descr="Pipa egyszínű kitöltéssel">
            <a:extLst>
              <a:ext uri="{FF2B5EF4-FFF2-40B4-BE49-F238E27FC236}">
                <a16:creationId xmlns:a16="http://schemas.microsoft.com/office/drawing/2014/main" id="{ACFFF8FC-B2A5-98BF-5B03-129A23839E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3317" y="4430613"/>
            <a:ext cx="914400" cy="914400"/>
          </a:xfrm>
          <a:prstGeom prst="rect">
            <a:avLst/>
          </a:prstGeom>
        </p:spPr>
      </p:pic>
      <p:pic>
        <p:nvPicPr>
          <p:cNvPr id="34" name="Ábra 33" descr="Pipa egyszínű kitöltéssel">
            <a:extLst>
              <a:ext uri="{FF2B5EF4-FFF2-40B4-BE49-F238E27FC236}">
                <a16:creationId xmlns:a16="http://schemas.microsoft.com/office/drawing/2014/main" id="{04EEAF81-DE00-C334-205C-DF64FAD1A4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3317" y="5316061"/>
            <a:ext cx="914400" cy="914400"/>
          </a:xfrm>
          <a:prstGeom prst="rect">
            <a:avLst/>
          </a:prstGeom>
        </p:spPr>
      </p:pic>
      <p:pic>
        <p:nvPicPr>
          <p:cNvPr id="36" name="Ábra 35" descr="Pipa egyszínű kitöltéssel">
            <a:extLst>
              <a:ext uri="{FF2B5EF4-FFF2-40B4-BE49-F238E27FC236}">
                <a16:creationId xmlns:a16="http://schemas.microsoft.com/office/drawing/2014/main" id="{9F5A5E2D-821E-1B6E-28F4-9E9C4530CD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451" y="3515861"/>
            <a:ext cx="914400" cy="914400"/>
          </a:xfrm>
          <a:prstGeom prst="rect">
            <a:avLst/>
          </a:prstGeom>
        </p:spPr>
      </p:pic>
      <p:pic>
        <p:nvPicPr>
          <p:cNvPr id="37" name="Ábra 36" descr="Pipa egyszínű kitöltéssel">
            <a:extLst>
              <a:ext uri="{FF2B5EF4-FFF2-40B4-BE49-F238E27FC236}">
                <a16:creationId xmlns:a16="http://schemas.microsoft.com/office/drawing/2014/main" id="{95944C45-936D-C567-3831-D5E66EF66A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451" y="4401309"/>
            <a:ext cx="914400" cy="914400"/>
          </a:xfrm>
          <a:prstGeom prst="rect">
            <a:avLst/>
          </a:prstGeom>
        </p:spPr>
      </p:pic>
      <p:pic>
        <p:nvPicPr>
          <p:cNvPr id="38" name="Ábra 37" descr="Pipa egyszínű kitöltéssel">
            <a:extLst>
              <a:ext uri="{FF2B5EF4-FFF2-40B4-BE49-F238E27FC236}">
                <a16:creationId xmlns:a16="http://schemas.microsoft.com/office/drawing/2014/main" id="{88DCB509-01CA-ECEF-9590-67E4D77FE0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451" y="5286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4007E-E29B-1DEA-AAD0-6A192B83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zínes fények alkotta fényképeffektusok">
            <a:extLst>
              <a:ext uri="{FF2B5EF4-FFF2-40B4-BE49-F238E27FC236}">
                <a16:creationId xmlns:a16="http://schemas.microsoft.com/office/drawing/2014/main" id="{E9B26563-896A-E4B0-BEC8-34A5A3796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0" r="32985" b="-1"/>
          <a:stretch>
            <a:fillRect/>
          </a:stretch>
        </p:blipFill>
        <p:spPr>
          <a:xfrm>
            <a:off x="9618223" y="0"/>
            <a:ext cx="5676900" cy="6857990"/>
          </a:xfrm>
          <a:prstGeom prst="rect">
            <a:avLst/>
          </a:prstGeom>
        </p:spPr>
      </p:pic>
      <p:sp>
        <p:nvSpPr>
          <p:cNvPr id="13" name="Cím 12">
            <a:extLst>
              <a:ext uri="{FF2B5EF4-FFF2-40B4-BE49-F238E27FC236}">
                <a16:creationId xmlns:a16="http://schemas.microsoft.com/office/drawing/2014/main" id="{63C4E904-D170-79F7-2563-8C7013AA8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85329"/>
            <a:ext cx="10890929" cy="1097280"/>
          </a:xfrm>
        </p:spPr>
        <p:txBody>
          <a:bodyPr/>
          <a:lstStyle/>
          <a:p>
            <a:r>
              <a:rPr lang="hu-HU" noProof="0" dirty="0"/>
              <a:t>Áttekintés</a:t>
            </a:r>
          </a:p>
        </p:txBody>
      </p:sp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9DEBFB33-215C-826E-476B-3D939F3AF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noProof="0" dirty="0"/>
              <a:t>Bejelentkezés</a:t>
            </a:r>
          </a:p>
          <a:p>
            <a:pPr lvl="1"/>
            <a:r>
              <a:rPr lang="hu-HU" noProof="0" dirty="0"/>
              <a:t>Szabadság kérése</a:t>
            </a:r>
          </a:p>
          <a:p>
            <a:pPr lvl="1"/>
            <a:r>
              <a:rPr lang="hu-HU" noProof="0" dirty="0"/>
              <a:t>Naptár nézet</a:t>
            </a:r>
          </a:p>
          <a:p>
            <a:pPr lvl="1"/>
            <a:r>
              <a:rPr lang="hu-HU" noProof="0" dirty="0"/>
              <a:t>Szabadság kérés elfogadása</a:t>
            </a:r>
          </a:p>
          <a:p>
            <a:pPr lvl="1"/>
            <a:r>
              <a:rPr lang="hu-HU" noProof="0" dirty="0"/>
              <a:t>Szabadság kérés módosítása</a:t>
            </a:r>
          </a:p>
        </p:txBody>
      </p:sp>
    </p:spTree>
    <p:extLst>
      <p:ext uri="{BB962C8B-B14F-4D97-AF65-F5344CB8AC3E}">
        <p14:creationId xmlns:p14="http://schemas.microsoft.com/office/powerpoint/2010/main" val="413713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8174B-6D91-257F-3DEE-1C2EE2F2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zínes fények alkotta fényképeffektusok">
            <a:extLst>
              <a:ext uri="{FF2B5EF4-FFF2-40B4-BE49-F238E27FC236}">
                <a16:creationId xmlns:a16="http://schemas.microsoft.com/office/drawing/2014/main" id="{79E895C2-B2EC-7D62-8D07-EE60AB5BE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0" r="32985" b="-1"/>
          <a:stretch>
            <a:fillRect/>
          </a:stretch>
        </p:blipFill>
        <p:spPr>
          <a:xfrm>
            <a:off x="9618223" y="0"/>
            <a:ext cx="5676900" cy="6857990"/>
          </a:xfrm>
          <a:prstGeom prst="rect">
            <a:avLst/>
          </a:prstGeom>
        </p:spPr>
      </p:pic>
      <p:sp>
        <p:nvSpPr>
          <p:cNvPr id="13" name="Cím 12">
            <a:extLst>
              <a:ext uri="{FF2B5EF4-FFF2-40B4-BE49-F238E27FC236}">
                <a16:creationId xmlns:a16="http://schemas.microsoft.com/office/drawing/2014/main" id="{ADA4B3C2-B73F-3BD8-11C9-B709371E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85329"/>
            <a:ext cx="10890929" cy="1097280"/>
          </a:xfrm>
        </p:spPr>
        <p:txBody>
          <a:bodyPr/>
          <a:lstStyle/>
          <a:p>
            <a:r>
              <a:rPr lang="hu-HU" noProof="0" dirty="0"/>
              <a:t>Felhasznált </a:t>
            </a:r>
            <a:r>
              <a:rPr lang="hu-HU" noProof="0" dirty="0" err="1"/>
              <a:t>techológiák</a:t>
            </a:r>
            <a:r>
              <a:rPr lang="hu-HU" noProof="0" dirty="0"/>
              <a:t>:</a:t>
            </a:r>
          </a:p>
        </p:txBody>
      </p:sp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A16D58A7-A73F-461F-FBFD-74BAB095E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04847"/>
            <a:ext cx="10890928" cy="3566160"/>
          </a:xfrm>
        </p:spPr>
        <p:txBody>
          <a:bodyPr/>
          <a:lstStyle/>
          <a:p>
            <a:pPr lvl="1"/>
            <a:r>
              <a:rPr lang="hu-HU" noProof="0" dirty="0"/>
              <a:t>Backend: </a:t>
            </a:r>
            <a:endParaRPr lang="en-US" noProof="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hu-HU" dirty="0"/>
              <a:t>C# </a:t>
            </a:r>
            <a:r>
              <a:rPr lang="hu-HU" dirty="0" err="1"/>
              <a:t>Entity</a:t>
            </a:r>
            <a:r>
              <a:rPr lang="hu-HU" dirty="0"/>
              <a:t> Framework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hu-HU" dirty="0"/>
              <a:t>.NET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hu-HU" dirty="0"/>
              <a:t>SQL adatbázis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hu-HU" dirty="0" err="1"/>
              <a:t>JWT</a:t>
            </a:r>
            <a:r>
              <a:rPr lang="hu-HU" dirty="0"/>
              <a:t> (</a:t>
            </a:r>
            <a:r>
              <a:rPr lang="hu-HU" dirty="0" err="1"/>
              <a:t>JSON</a:t>
            </a:r>
            <a:r>
              <a:rPr lang="hu-HU" dirty="0"/>
              <a:t> Web </a:t>
            </a:r>
            <a:r>
              <a:rPr lang="hu-HU" dirty="0" err="1"/>
              <a:t>Token</a:t>
            </a:r>
            <a:r>
              <a:rPr lang="hu-HU" dirty="0"/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hu-HU" dirty="0" err="1"/>
              <a:t>Hash-let</a:t>
            </a:r>
            <a:r>
              <a:rPr lang="hu-HU" dirty="0"/>
              <a:t> jelszókezelés</a:t>
            </a:r>
            <a:endParaRPr lang="en-US" noProof="0" dirty="0"/>
          </a:p>
          <a:p>
            <a:pPr lvl="1"/>
            <a:r>
              <a:rPr lang="en-US" dirty="0"/>
              <a:t>Frontend:</a:t>
            </a:r>
          </a:p>
          <a:p>
            <a:pPr lvl="1"/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3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210A7-DFCA-FE07-900A-FD67C349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zínes fények alkotta fényképeffektusok">
            <a:extLst>
              <a:ext uri="{FF2B5EF4-FFF2-40B4-BE49-F238E27FC236}">
                <a16:creationId xmlns:a16="http://schemas.microsoft.com/office/drawing/2014/main" id="{9B831DDB-5FD6-8FB7-26EB-F8E8CF38D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60" r="32985" b="-1"/>
          <a:stretch>
            <a:fillRect/>
          </a:stretch>
        </p:blipFill>
        <p:spPr>
          <a:xfrm>
            <a:off x="9618223" y="0"/>
            <a:ext cx="5676900" cy="6857990"/>
          </a:xfrm>
          <a:prstGeom prst="rect">
            <a:avLst/>
          </a:prstGeom>
        </p:spPr>
      </p:pic>
      <p:sp>
        <p:nvSpPr>
          <p:cNvPr id="13" name="Cím 12">
            <a:extLst>
              <a:ext uri="{FF2B5EF4-FFF2-40B4-BE49-F238E27FC236}">
                <a16:creationId xmlns:a16="http://schemas.microsoft.com/office/drawing/2014/main" id="{251C93DC-E1AB-FC21-1B25-21B44B2D3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85329"/>
            <a:ext cx="10890929" cy="1097280"/>
          </a:xfrm>
        </p:spPr>
        <p:txBody>
          <a:bodyPr/>
          <a:lstStyle/>
          <a:p>
            <a:r>
              <a:rPr lang="en-US" noProof="0" dirty="0"/>
              <a:t>Projekt:</a:t>
            </a:r>
            <a:endParaRPr lang="hu-HU" noProof="0" dirty="0"/>
          </a:p>
        </p:txBody>
      </p:sp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BE600709-E8A9-4117-31CE-F37613B56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04847"/>
            <a:ext cx="10890928" cy="3566160"/>
          </a:xfrm>
        </p:spPr>
        <p:txBody>
          <a:bodyPr/>
          <a:lstStyle/>
          <a:p>
            <a:pPr lvl="1"/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4091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81</Words>
  <Application>Microsoft Office PowerPoint</Application>
  <PresentationFormat>Szélesvásznú</PresentationFormat>
  <Paragraphs>27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Courier New</vt:lpstr>
      <vt:lpstr>Grandview Display</vt:lpstr>
      <vt:lpstr>DashVTI</vt:lpstr>
      <vt:lpstr>PTO Manager- Szabadság menedzser program </vt:lpstr>
      <vt:lpstr>Versenytárs elemzés </vt:lpstr>
      <vt:lpstr>Áttekintés</vt:lpstr>
      <vt:lpstr>Felhasznált techológiák:</vt:lpstr>
      <vt:lpstr>Projekt: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Eszter Janovits</dc:creator>
  <cp:lastModifiedBy>Eszter Janovits</cp:lastModifiedBy>
  <cp:revision>9</cp:revision>
  <dcterms:created xsi:type="dcterms:W3CDTF">2025-10-13T16:46:35Z</dcterms:created>
  <dcterms:modified xsi:type="dcterms:W3CDTF">2025-10-13T20:33:57Z</dcterms:modified>
</cp:coreProperties>
</file>